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drawingml.chartshapes+xml" PartName="/ppt/drawings/drawing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WEgeFmwb3EVIXaPMfdjihCEdD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Relationship Id="rId2" Type="http://schemas.openxmlformats.org/officeDocument/2006/relationships/chartUserShapes" Target="../drawings/drawing1.xml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333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3338"/>
                </a:solidFill>
                <a:latin typeface="Arial"/>
              </a:rPr>
              <a:t>Respondents who have ever sought treatment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C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DC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333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3338"/>
                </a:solidFill>
                <a:latin typeface="Arial"/>
              </a:rPr>
              <a:t>Perceived vs. observed career risk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133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DC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333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213338"/>
                </a:solidFill>
                <a:latin typeface="Arial"/>
              </a:rPr>
              <a:t>2014 vs. 2019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rgbClr val="6FA8A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33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Benefits coverage</c:v>
                </c:pt>
                <c:pt idx="1">
                  <c:v>Treatment-seeking</c:v>
                </c:pt>
                <c:pt idx="2">
                  <c:v>Interview disclosure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37.9</c:v>
                </c:pt>
                <c:pt idx="1">
                  <c:v>50.6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09-441D-8275-33A30EBD8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1B4B5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133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Benefits coverage</c:v>
                </c:pt>
                <c:pt idx="1">
                  <c:v>Treatment-seeking</c:v>
                </c:pt>
                <c:pt idx="2">
                  <c:v>Interview disclosure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46.6</c:v>
                </c:pt>
                <c:pt idx="1">
                  <c:v>61.6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09-441D-8275-33A30EBD8B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133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DCE6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C7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0.1187</cdr:x>
      <cdr:y>0.0134</cdr:y>
    </cdr:from>
    <cdr:to>
      <cdr:x>0.8813</cdr:x>
      <cdr:y>0.9866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8E6A553-CAB3-A703-008D-17965084E76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748937" y="56970"/>
          <a:ext cx="4811485" cy="4138019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f893ef4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40f893ef4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40f893ef4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33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B4B5A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FA8A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A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FA8A0"/>
                </a:solidFill>
                <a:latin typeface="Calibri"/>
                <a:ea typeface="Calibri"/>
                <a:cs typeface="Calibri"/>
                <a:sym typeface="Calibri"/>
              </a:rPr>
              <a:t>OPEN SOURCE MENTAL HEALTH INITIATIVE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Mental Health in Tech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A Survey Analysis of Stigma, Treatment, and Employer Support, 2014–2019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822960" y="3977640"/>
            <a:ext cx="1280160" cy="0"/>
          </a:xfrm>
          <a:prstGeom prst="straightConnector1">
            <a:avLst/>
          </a:prstGeom>
          <a:noFill/>
          <a:ln cap="flat" cmpd="sng" w="38100">
            <a:solidFill>
              <a:srgbClr val="E88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 txBox="1"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FB8B5"/>
                </a:solidFill>
                <a:latin typeface="Calibri"/>
                <a:ea typeface="Calibri"/>
                <a:cs typeface="Calibri"/>
                <a:sym typeface="Calibri"/>
              </a:rPr>
              <a:t>236,898 survey responses  •  5 annual surveys  •  105 questions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C9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E9C99"/>
                </a:solidFill>
                <a:latin typeface="Calibri"/>
                <a:ea typeface="Calibri"/>
                <a:cs typeface="Calibri"/>
                <a:sym typeface="Calibri"/>
              </a:rPr>
              <a:t>Data source: osmihelp.org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ading_deck/NTI_logo_white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8" y="290227"/>
            <a:ext cx="2582815" cy="12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About the Dataset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58165" y="102412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An anonymous survey of tech industry professionals, run annually since 2014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4B5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548640" y="203911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236,898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85800" y="27432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Survey answers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777740" y="1775079"/>
            <a:ext cx="251460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4B5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4777740" y="2048637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4960620" y="272491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Survey years (2014–19)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686800" y="1817370"/>
            <a:ext cx="251460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4B5A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8686800" y="2087118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105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8823960" y="2722626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Distinct questions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Three linked tables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4251960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777240" y="425196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4B5A"/>
                </a:solidFill>
                <a:latin typeface="Calibri"/>
                <a:ea typeface="Calibri"/>
                <a:cs typeface="Calibri"/>
                <a:sym typeface="Calibri"/>
              </a:rPr>
              <a:t>Survey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2651760" y="425196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160520" y="4251960"/>
            <a:ext cx="7223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Survey metadata for each year (2014, 2016–2019)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5001768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EEF4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777240" y="500176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4B5A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2651760" y="5001768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4160520" y="5001768"/>
            <a:ext cx="7223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Question text and answer-type definitions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5751576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777240" y="5751576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4B5A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2651760" y="5751576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236,898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4160520" y="5751576"/>
            <a:ext cx="7223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All respondent answers, linked by SurveyID + UserID + QuestionID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f893ef4_0_0"/>
          <p:cNvSpPr txBox="1"/>
          <p:nvPr/>
        </p:nvSpPr>
        <p:spPr>
          <a:xfrm>
            <a:off x="548640" y="45720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Data Connection with MS SQL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40f893ef4_0_0"/>
          <p:cNvSpPr txBox="1"/>
          <p:nvPr/>
        </p:nvSpPr>
        <p:spPr>
          <a:xfrm>
            <a:off x="548640" y="102412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An anonymous survey of tech industry professionals, run annually since 2014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40f893ef4_0_0"/>
          <p:cNvSpPr/>
          <p:nvPr/>
        </p:nvSpPr>
        <p:spPr>
          <a:xfrm>
            <a:off x="548640" y="4251960"/>
            <a:ext cx="110643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40f893ef4_0_0"/>
          <p:cNvSpPr/>
          <p:nvPr/>
        </p:nvSpPr>
        <p:spPr>
          <a:xfrm>
            <a:off x="548640" y="5751576"/>
            <a:ext cx="11064300" cy="6585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40f893ef4_0_0"/>
          <p:cNvSpPr txBox="1"/>
          <p:nvPr/>
        </p:nvSpPr>
        <p:spPr>
          <a:xfrm>
            <a:off x="457200" y="6473952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40f893ef4_0_0"/>
          <p:cNvSpPr txBox="1"/>
          <p:nvPr/>
        </p:nvSpPr>
        <p:spPr>
          <a:xfrm>
            <a:off x="11475720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g3f40f893ef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50" y="1557635"/>
            <a:ext cx="10509043" cy="474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Data Overview &amp; Statistical Summary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An anonymous survey of tech industry professionals, run annually since 2014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4251960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5751576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39430"/>
            <a:ext cx="4000847" cy="454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639430"/>
            <a:ext cx="3177815" cy="454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2081" y="1639430"/>
            <a:ext cx="4077554" cy="4541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Data Preprocessing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An anonymous survey of tech industry professionals, run annually since 2014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78105" y="1389888"/>
            <a:ext cx="6385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Dataset was clean had no missing values or duplicates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8640" y="5751576"/>
            <a:ext cx="11064240" cy="658368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029968"/>
            <a:ext cx="4413885" cy="2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098" y="2029968"/>
            <a:ext cx="4040652" cy="4351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The Stigma Gap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Employees are far less willing to disclose mental health issues than physical 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92240" y="1691640"/>
            <a:ext cx="51206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4B5A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6766560" y="18105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~24%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8412480" y="187452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comfortable discussing mental health with coworkers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492240" y="3063240"/>
            <a:ext cx="51206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4B5A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766560" y="31821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~39%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8412480" y="324612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comfortable discussing mental health with a supervisor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492240" y="4434840"/>
            <a:ext cx="5120640" cy="1554480"/>
          </a:xfrm>
          <a:prstGeom prst="roundRect">
            <a:avLst>
              <a:gd fmla="val 4706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6766560" y="45720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A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FA8A0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6766560" y="48920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Workers trust colleagues far more than hiring processes — the interview stage remains the biggest disclosure barrier.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 — Q12, Q18, Q19, Q29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103" y="1691640"/>
            <a:ext cx="6023257" cy="4332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Prevalence &amp; Treatment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Mental health disorders are common in tech — and treatment-seeking is rising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1737360"/>
            <a:ext cx="4480560" cy="4251960"/>
          </a:xfrm>
          <a:prstGeom prst="roundRect">
            <a:avLst>
              <a:gd fmla="val 2151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548640" y="228600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43.6%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914400" y="342900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of respondents report a current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mental health disorder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6"/>
          <p:cNvCxnSpPr/>
          <p:nvPr/>
        </p:nvCxnSpPr>
        <p:spPr>
          <a:xfrm>
            <a:off x="1463040" y="4434840"/>
            <a:ext cx="2651760" cy="0"/>
          </a:xfrm>
          <a:prstGeom prst="straightConnector1">
            <a:avLst/>
          </a:prstGeom>
          <a:noFill/>
          <a:ln cap="flat" cmpd="sng" w="25400">
            <a:solidFill>
              <a:srgbClr val="E88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 txBox="1"/>
          <p:nvPr/>
        </p:nvSpPr>
        <p:spPr>
          <a:xfrm>
            <a:off x="914400" y="4617720"/>
            <a:ext cx="3749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8B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9FB8B5"/>
                </a:solidFill>
                <a:latin typeface="Calibri"/>
                <a:ea typeface="Calibri"/>
                <a:cs typeface="Calibri"/>
                <a:sym typeface="Calibri"/>
              </a:rPr>
              <a:t>Q33 — “Do you currently have a mental health disorder?”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5303525" y="1737350"/>
          <a:ext cx="5608800" cy="40935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3" name="Google Shape;123;p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 — Q7, Q33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Employer Support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Benefits coverage varies by company size — and anonymity is the weakest link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8640" y="1828800"/>
            <a:ext cx="3611880" cy="402336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4B5A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6FA8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822960" y="29260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Employer-provided 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822960" y="3611880"/>
            <a:ext cx="3063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Whether the company offers mental health benefits. Coverage varies widely by company size, and rose from 37.9% to 46.6% between 2014 and 2019.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434840" y="1828800"/>
            <a:ext cx="3611880" cy="402336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4B5A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6FA8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4709160" y="29260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Anonymity protection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4709160" y="3611880"/>
            <a:ext cx="3063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Whether anonymity is protected when using mental health resources. This is the weakest area — most employees simply don’t know if protections exist.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321040" y="1828800"/>
            <a:ext cx="3611880" cy="402336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4B5A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6FA8A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8595360" y="2103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Q98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8595360" y="29260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B5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B4B5A"/>
                </a:solidFill>
                <a:latin typeface="Cambria"/>
                <a:ea typeface="Cambria"/>
                <a:cs typeface="Cambria"/>
                <a:sym typeface="Cambria"/>
              </a:rPr>
              <a:t>Consequences of disclosure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8595360" y="3611880"/>
            <a:ext cx="3063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Whether discussing a mental health issue with the employer is seen as carrying negative consequences for the employee.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 — Q10, Q11, Q98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Career Risk: Fear vs. Reality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Anticipated consequences are roughly double what respondents have actually observed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1280160" y="1783080"/>
          <a:ext cx="3000000" cy="300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57" name="Google Shape;157;p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 — Q98, Q102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7114" y="1593706"/>
            <a:ext cx="8382726" cy="458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The Impact of Treatment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Effective treatment sharply reduces how often mental health interferes with 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280160" y="60807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~6.7× difference in frequent work interference between treated and untreated respondents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 — Q48, Q49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9347" y="1826350"/>
            <a:ext cx="7453293" cy="4007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Year-over-Year Trends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Support is improving, but interview-stage disclosure hasn’t moved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822960" y="1783080"/>
          <a:ext cx="1051560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79" name="Google Shape;179;p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 — Q10, Q7, Q12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213338"/>
                </a:solidFill>
                <a:latin typeface="Cambria"/>
                <a:ea typeface="Cambria"/>
                <a:cs typeface="Cambria"/>
                <a:sym typeface="Cambria"/>
              </a:rPr>
              <a:t>Key Question Reference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Question IDs used throughout this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48640" y="1828800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85800" y="2002536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685800" y="200253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Q7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1463040" y="1828800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Have you ever sought treatment?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389120" y="1828800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26280" y="2002536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4526280" y="200253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5303520" y="1828800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Employer provide mental health benefits?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8229600" y="1828800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8366760" y="2002536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8366760" y="200253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9144000" y="1828800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Anonymity protected?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2944368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85800" y="3118104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685800" y="3118104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1463040" y="2944368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Bring up MH issue in interview?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389120" y="2944368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526280" y="3118104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526280" y="3118104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5303520" y="2944368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Comfortable discussing MH with coworkers?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229600" y="2944368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8366760" y="3118104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8366760" y="3118104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9144000" y="2944368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Comfortable discussing MH with supervisor?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48640" y="4059936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85800" y="4233672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685800" y="4233672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Q29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1463040" y="4059936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Bring up physical health issue in interview?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389120" y="4059936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526280" y="4233672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4526280" y="4233672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Q33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5303520" y="4059936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Currently have a mental health disorder?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229600" y="4059936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366760" y="4233672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8366760" y="4233672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Q48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9144000" y="4059936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MH interferes with work when treated?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48640" y="5175504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85800" y="5349240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685800" y="5349240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Q49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1463040" y="5175504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MH interferes with work when untreated?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389120" y="5175504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4526280" y="5349240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4526280" y="5349240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Q98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5303520" y="5175504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Discussing MH with employer → negative consequences?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229600" y="5175504"/>
            <a:ext cx="3611880" cy="932688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4B5A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366760" y="5349240"/>
            <a:ext cx="658368" cy="585216"/>
          </a:xfrm>
          <a:prstGeom prst="roundRect">
            <a:avLst>
              <a:gd fmla="val 9375" name="adj"/>
            </a:avLst>
          </a:prstGeom>
          <a:solidFill>
            <a:srgbClr val="1B4B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8366760" y="5349240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Q102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9144000" y="5175504"/>
            <a:ext cx="25603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33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13338"/>
                </a:solidFill>
                <a:latin typeface="Calibri"/>
                <a:ea typeface="Calibri"/>
                <a:cs typeface="Calibri"/>
                <a:sym typeface="Calibri"/>
              </a:rPr>
              <a:t>Observed negative consequences for coworkers?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OSMH Survey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C7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33D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-1645920" y="-1463040"/>
            <a:ext cx="4023360" cy="4023360"/>
          </a:xfrm>
          <a:prstGeom prst="ellipse">
            <a:avLst/>
          </a:prstGeom>
          <a:solidFill>
            <a:srgbClr val="1B4B5A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9875520" y="4206240"/>
            <a:ext cx="3474720" cy="3474720"/>
          </a:xfrm>
          <a:prstGeom prst="ellipse">
            <a:avLst/>
          </a:prstGeom>
          <a:solidFill>
            <a:srgbClr val="6FA8A0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Closing the Gap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 txBox="1"/>
          <p:nvPr/>
        </p:nvSpPr>
        <p:spPr>
          <a:xfrm>
            <a:off x="822960" y="269748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0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FE3E0"/>
                </a:solidFill>
                <a:latin typeface="Calibri"/>
                <a:ea typeface="Calibri"/>
                <a:cs typeface="Calibri"/>
                <a:sym typeface="Calibri"/>
              </a:rPr>
              <a:t>Treatment works, employer support is improving — but stigma at the interview stage hasn’t moved in five years of surveys.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2"/>
          <p:cNvCxnSpPr/>
          <p:nvPr/>
        </p:nvCxnSpPr>
        <p:spPr>
          <a:xfrm>
            <a:off x="822960" y="3794760"/>
            <a:ext cx="1280160" cy="0"/>
          </a:xfrm>
          <a:prstGeom prst="straightConnector1">
            <a:avLst/>
          </a:prstGeom>
          <a:noFill/>
          <a:ln cap="flat" cmpd="sng" w="38100">
            <a:solidFill>
              <a:srgbClr val="E883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2"/>
          <p:cNvSpPr txBox="1"/>
          <p:nvPr/>
        </p:nvSpPr>
        <p:spPr>
          <a:xfrm>
            <a:off x="822960" y="4069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A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FA8A0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 txBox="1"/>
          <p:nvPr/>
        </p:nvSpPr>
        <p:spPr>
          <a:xfrm>
            <a:off x="822960" y="437083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Source Mental Health Initiative (OSMH) — osmihelp.org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822960" y="4709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8B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FB8B5"/>
                </a:solidFill>
                <a:latin typeface="Calibri"/>
                <a:ea typeface="Calibri"/>
                <a:cs typeface="Calibri"/>
                <a:sym typeface="Calibri"/>
              </a:rPr>
              <a:t>Anonymous survey of tech industry professionals about mental health in the workplace, 2014–2019.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2026-08-26T15:03:55Z</dcterms:created>
  <dc:creator>PptxGenJS</dc:creator>
</cp:coreProperties>
</file>